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3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5998-0053-C46F-5120-0BDB0B3AB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F60E78-2746-D674-605D-24FF83A2E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8BB13-1042-2A60-22D8-D319F42B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3FC-5905-4213-81C6-3192BBD3755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057E5-FB3A-148D-89A5-9C2E742CC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9175-B64E-E457-703D-6849C559F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E6D8-74CD-43CB-84B6-35A77CB03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91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2E7C8-153C-A2A5-4ACE-52EFAA71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F9330-6D29-9F84-70F1-954A89867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3E079-B8C3-051D-0B73-6AF497B89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3FC-5905-4213-81C6-3192BBD3755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C529B-5C2C-A68A-6E99-EE550B3D3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BA645-0BCD-3F5F-45E1-2F1D8BE95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E6D8-74CD-43CB-84B6-35A77CB03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70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CC44B-509A-5433-64D3-1FA3FF91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A6C0C-D50F-F850-EE38-1A777A9B0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31E09-D2FB-7D3F-6F1B-4C167F99A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3FC-5905-4213-81C6-3192BBD3755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CBEA5-61E2-D8A7-DD39-42C2F7B7B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0C0C1-1116-40E9-DC2E-0C65719F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E6D8-74CD-43CB-84B6-35A77CB03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505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30777-8450-053B-248A-B90A3373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76ED5-F216-7B66-05BF-8BE1E7B76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349CB-BC8B-30DD-ED05-C9E6CC1F1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47CAE-F691-D1AB-74D8-66D823EE0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3FC-5905-4213-81C6-3192BBD3755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A5171-41A6-7EC6-D351-5A425D8F9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8925E-EEEF-E548-4056-D4C272E8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E6D8-74CD-43CB-84B6-35A77CB03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91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8A38-BD49-9160-DED7-74ABC69B0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A15F1-27F1-E564-9C7A-4DA644B71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057C5-847B-E277-38EF-2E52303F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41E354-A4E3-3286-18DC-AB30312DB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54AB5-AAE5-24CA-9EEB-F3821C7624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6BE6A-1C96-AABA-47AB-9A88F45B4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3FC-5905-4213-81C6-3192BBD3755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5E9645-BE62-5F5F-E8FC-E8A0A777D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25AF92-F7A9-9797-570C-E482CF9F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E6D8-74CD-43CB-84B6-35A77CB03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32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F5148-5D60-2B53-6A42-8A49014C9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A2621-0CA9-5003-AFAB-39CAB4C26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3FC-5905-4213-81C6-3192BBD3755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736CD-F849-D880-44C5-AAFDEE573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242D8-5CA2-4766-8E43-FD036E5BD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E6D8-74CD-43CB-84B6-35A77CB03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555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E41F7A-1F78-09E6-8C52-82B444A79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3FC-5905-4213-81C6-3192BBD3755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92053-94D3-CB1D-62D6-14249B3A5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B7C4F-4C0E-3619-4B79-D1715252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E6D8-74CD-43CB-84B6-35A77CB03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533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4199C-9D4E-FCF1-3F4E-FFE7C644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6DEEF-292C-5D1A-1BDE-FD323A928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AAC3A-4D5D-F485-3F2A-8400E0F14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6A745-4665-1CD6-FFAC-16FDA490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3FC-5905-4213-81C6-3192BBD3755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2B75B-736B-F02F-9C3D-25F3E2E47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8D59B-130D-1279-8006-020B6D093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E6D8-74CD-43CB-84B6-35A77CB03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942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8B9F3-28AB-8D24-88BC-2FF198353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EAFF12-5C8E-EDB5-8C20-7EA07094EE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EB9E9-CAF7-D015-7C58-5950C52E6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1C5EA-9358-2D5A-484B-FC9880BE2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3FC-5905-4213-81C6-3192BBD3755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5C167-65AA-0CAE-731C-8B07DDB20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F3BDB-06CD-1859-3C64-3B4775444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E6D8-74CD-43CB-84B6-35A77CB03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852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A91B-BBF8-CB04-342C-28ED825A1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03790E-B9E7-A6C5-AD00-1B75AB0C1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0D763-7CD5-9161-A57B-6EB5E1850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3FC-5905-4213-81C6-3192BBD3755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D3D16-E023-2B11-636F-8F940E363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D9990-6A13-50C0-0755-3F466EC98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E6D8-74CD-43CB-84B6-35A77CB03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10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8A6D7C-D8BA-D642-81F0-C4E7B47EA0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E1F75-ACAA-0ABF-33DF-5B9348015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DD5E1-0846-B730-36C5-3C0A2ACE7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03FC-5905-4213-81C6-3192BBD3755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A60FC-3765-25C8-47FE-929414B45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BE951-172F-9C4D-F095-988AC71EA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DE6D8-74CD-43CB-84B6-35A77CB03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418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39D7E6-C1D9-2586-582D-57EAC2AD6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DE1A1-A1F9-5AAB-5152-5B9DEDD4C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C3B22-EA56-5067-76FC-3BA621101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FD03FC-5905-4213-81C6-3192BBD3755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9F134-6BD6-CF83-9AB5-12166A9717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25C5C-F076-D2D2-E670-2A305C116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9DE6D8-74CD-43CB-84B6-35A77CB03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11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1F2253-17E9-8615-A9B0-D260331384DE}"/>
              </a:ext>
            </a:extLst>
          </p:cNvPr>
          <p:cNvSpPr txBox="1"/>
          <p:nvPr/>
        </p:nvSpPr>
        <p:spPr>
          <a:xfrm>
            <a:off x="1158240" y="1650886"/>
            <a:ext cx="10805159" cy="5234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MATH6119: Analytical Consultancy Skills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Coursework 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endParaRPr lang="en-IN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Optimization of PCB Pick-and-Place Scheduling</a:t>
            </a:r>
            <a:endParaRPr lang="en-IN" sz="2000" b="1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endParaRPr lang="en-IN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endParaRPr lang="en-IN" sz="20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endParaRPr lang="en-IN" sz="20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endParaRPr lang="en-IN" sz="20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endParaRPr lang="en-IN" sz="20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5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37569597, 36938912, 37652435, 36842427, 37218557, 36945811</a:t>
            </a:r>
            <a:br>
              <a:rPr lang="en-IN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B448C6-B967-C805-BBED-8C2FB4C31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30"/>
            <a:ext cx="2819400" cy="123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30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8988D-1CC5-27D8-EB1E-D3E71FA6C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9B059C-248D-712D-02DB-221FAAF0407F}"/>
              </a:ext>
            </a:extLst>
          </p:cNvPr>
          <p:cNvSpPr txBox="1"/>
          <p:nvPr/>
        </p:nvSpPr>
        <p:spPr>
          <a:xfrm>
            <a:off x="872067" y="2040467"/>
            <a:ext cx="1004993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 conveyor system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pick-and-place machines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machine has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attachment heads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 contains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component types (A–J)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102 PCB placement locations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i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Minimise travel distance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machine workload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Satisfy all attachment constraints </a:t>
            </a:r>
          </a:p>
          <a:p>
            <a:endParaRPr lang="en-IN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type: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Combinatorial optimisation problem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TSP &amp; VRP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6DADC7-DCA4-AE1A-F938-5BE009B5E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131" y="1945819"/>
            <a:ext cx="3414255" cy="40812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F87B13-2EE3-8915-D09E-B18792879B9A}"/>
              </a:ext>
            </a:extLst>
          </p:cNvPr>
          <p:cNvSpPr txBox="1"/>
          <p:nvPr/>
        </p:nvSpPr>
        <p:spPr>
          <a:xfrm>
            <a:off x="4318000" y="1224976"/>
            <a:ext cx="355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Description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ABD261-C15D-0B03-EB98-8F7D1FE94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130"/>
            <a:ext cx="2819400" cy="123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63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FD725-535F-FFAE-DC30-4E58ACF62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80B238-5223-1170-D2BB-8B6E020A9DBF}"/>
              </a:ext>
            </a:extLst>
          </p:cNvPr>
          <p:cNvSpPr txBox="1"/>
          <p:nvPr/>
        </p:nvSpPr>
        <p:spPr>
          <a:xfrm>
            <a:off x="1474167" y="1575160"/>
            <a:ext cx="1011146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constraints: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machines operate independently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machine has exactly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heads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head supports specific components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constraint rules: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attachment used once only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overlap of attachments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 order fixed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order flexible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model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5728E8-AE52-017D-F8E2-F094ED908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167" y="5692439"/>
            <a:ext cx="5753706" cy="817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FA9298-0CA0-A970-3E7C-CD577579B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130"/>
            <a:ext cx="2819400" cy="12393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2346F2-93C2-D5A6-81CC-04EC8CDEB4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91"/>
          <a:stretch>
            <a:fillRect/>
          </a:stretch>
        </p:blipFill>
        <p:spPr>
          <a:xfrm>
            <a:off x="6529901" y="502920"/>
            <a:ext cx="4855158" cy="23549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1F4718-898C-23D3-BF54-D98D56DDDF03}"/>
              </a:ext>
            </a:extLst>
          </p:cNvPr>
          <p:cNvSpPr txBox="1"/>
          <p:nvPr/>
        </p:nvSpPr>
        <p:spPr>
          <a:xfrm>
            <a:off x="7334114" y="3514152"/>
            <a:ext cx="414528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Comparison Permutation</a:t>
            </a:r>
          </a:p>
          <a:p>
            <a:endParaRPr lang="en-IN" b="1" i="1" dirty="0"/>
          </a:p>
          <a:p>
            <a:r>
              <a:rPr lang="en-IN" sz="1600" b="1" i="1" dirty="0"/>
              <a:t>Unoptimized path</a:t>
            </a:r>
          </a:p>
          <a:p>
            <a:endParaRPr lang="en-IN" sz="1600" i="1" dirty="0"/>
          </a:p>
          <a:p>
            <a:r>
              <a:rPr lang="en-IN" sz="1600" i="1" dirty="0"/>
              <a:t>(0,0) → (4,4) → (1,0) → (2,3) → (2,0)</a:t>
            </a:r>
          </a:p>
          <a:p>
            <a:endParaRPr lang="en-IN" sz="1600" b="1" i="1" dirty="0"/>
          </a:p>
          <a:p>
            <a:r>
              <a:rPr lang="en-IN" sz="1600" b="1" i="1" dirty="0"/>
              <a:t>Optimized Path</a:t>
            </a:r>
          </a:p>
          <a:p>
            <a:endParaRPr lang="en-IN" sz="1600" i="1" dirty="0"/>
          </a:p>
          <a:p>
            <a:r>
              <a:rPr lang="en-IN" sz="1600" i="1" dirty="0"/>
              <a:t>(0,0) → (1,0) → (2,0) → (4,1) → (4,4) → (2,3)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AC04F3-F6AD-2052-C000-210C88680624}"/>
              </a:ext>
            </a:extLst>
          </p:cNvPr>
          <p:cNvSpPr txBox="1"/>
          <p:nvPr/>
        </p:nvSpPr>
        <p:spPr>
          <a:xfrm>
            <a:off x="4050945" y="854374"/>
            <a:ext cx="455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Constraints</a:t>
            </a:r>
          </a:p>
        </p:txBody>
      </p:sp>
    </p:spTree>
    <p:extLst>
      <p:ext uri="{BB962C8B-B14F-4D97-AF65-F5344CB8AC3E}">
        <p14:creationId xmlns:p14="http://schemas.microsoft.com/office/powerpoint/2010/main" val="2368440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4DB3F-6387-3085-190D-95DC22132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4FDD5D-33DE-56C4-A593-488587B27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983" y="90806"/>
            <a:ext cx="2951764" cy="66763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CC35B0-6DE3-00B7-15EF-0C9CFE150F5F}"/>
              </a:ext>
            </a:extLst>
          </p:cNvPr>
          <p:cNvSpPr txBox="1"/>
          <p:nvPr/>
        </p:nvSpPr>
        <p:spPr>
          <a:xfrm>
            <a:off x="828131" y="1935944"/>
            <a:ext cx="609872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Heuristic approach: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 balancing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Coordinate-based sorting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Feeder-aware scheduling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pick-and-place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placement sequencing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assignment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allocation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optimization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generation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034DE0-415E-F70C-1914-0B49880D37A9}"/>
              </a:ext>
            </a:extLst>
          </p:cNvPr>
          <p:cNvSpPr/>
          <p:nvPr/>
        </p:nvSpPr>
        <p:spPr>
          <a:xfrm>
            <a:off x="4134587" y="706033"/>
            <a:ext cx="2244442" cy="61468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Pipeline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8A46E5-4D77-FA07-2DA4-D16B6FF50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130"/>
            <a:ext cx="2819400" cy="123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743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5649E-526B-53F2-C431-B2B37956A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B3FF06-5A88-C19C-FCA3-5F21704564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5"/>
          <a:stretch>
            <a:fillRect/>
          </a:stretch>
        </p:blipFill>
        <p:spPr>
          <a:xfrm>
            <a:off x="777239" y="1984626"/>
            <a:ext cx="6583973" cy="4427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A16D10-FE55-8107-95F3-AC085CC8C6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876"/>
          <a:stretch>
            <a:fillRect/>
          </a:stretch>
        </p:blipFill>
        <p:spPr>
          <a:xfrm>
            <a:off x="7361213" y="2609518"/>
            <a:ext cx="4830787" cy="24196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61D3EE-3EBE-58E1-C49B-181D245D76AC}"/>
              </a:ext>
            </a:extLst>
          </p:cNvPr>
          <p:cNvSpPr txBox="1"/>
          <p:nvPr/>
        </p:nvSpPr>
        <p:spPr>
          <a:xfrm>
            <a:off x="4815840" y="896630"/>
            <a:ext cx="455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Evaluation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55B471-C3B8-E7A1-6153-F8794CD33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8130"/>
            <a:ext cx="2819400" cy="12393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16FDD9-D0F3-8377-E380-70EC6EE877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415" y="4991095"/>
            <a:ext cx="2644369" cy="6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041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8AED8-BC3D-723F-9F8F-BBDACFF99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2391E6-0B3E-2250-4FA4-51DF0CEE5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30"/>
            <a:ext cx="2819400" cy="1239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D4D7ED-05CD-6227-1B44-0B94DC4676CE}"/>
              </a:ext>
            </a:extLst>
          </p:cNvPr>
          <p:cNvSpPr txBox="1"/>
          <p:nvPr/>
        </p:nvSpPr>
        <p:spPr>
          <a:xfrm>
            <a:off x="712824" y="2715348"/>
            <a:ext cx="58521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results: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102/102 placements completed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CSV structure satisfied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PICK / PLACE action types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workplans passed output validation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i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strategy achieved the lowest heuristic estimated score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workplans passed CSV structure and PLACE-count validation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Feasible heuristic PCB scheduling system achieved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802735-E69F-15D9-413F-2B4CDBDFB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235" y="2465004"/>
            <a:ext cx="6604525" cy="2274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1ECE38-88F7-B772-69D8-FED5D33688C6}"/>
              </a:ext>
            </a:extLst>
          </p:cNvPr>
          <p:cNvSpPr txBox="1"/>
          <p:nvPr/>
        </p:nvSpPr>
        <p:spPr>
          <a:xfrm>
            <a:off x="5191235" y="897805"/>
            <a:ext cx="3636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146F4E-4A9F-AC3A-5686-BA562AE9CEB2}"/>
              </a:ext>
            </a:extLst>
          </p:cNvPr>
          <p:cNvSpPr txBox="1"/>
          <p:nvPr/>
        </p:nvSpPr>
        <p:spPr>
          <a:xfrm>
            <a:off x="7009612" y="20064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Log Validation</a:t>
            </a:r>
          </a:p>
        </p:txBody>
      </p:sp>
    </p:spTree>
    <p:extLst>
      <p:ext uri="{BB962C8B-B14F-4D97-AF65-F5344CB8AC3E}">
        <p14:creationId xmlns:p14="http://schemas.microsoft.com/office/powerpoint/2010/main" val="197578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9EE00-C954-AA6B-1D5D-7D2C800CF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82B875-94F4-73FA-038D-EAA0F4C5E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30"/>
            <a:ext cx="2819400" cy="12393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9C30B8-EBEC-F667-62C9-2263FA90A3A6}"/>
              </a:ext>
            </a:extLst>
          </p:cNvPr>
          <p:cNvSpPr txBox="1"/>
          <p:nvPr/>
        </p:nvSpPr>
        <p:spPr>
          <a:xfrm>
            <a:off x="1203960" y="1522244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can be applied to: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PCB assembly lines in electronics manufacturing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factory production systems (Industry 4.0)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Multi-robot task scheduling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industrial routing and scheduling optimization problems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Proposed System</a:t>
            </a:r>
          </a:p>
          <a:p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Reduces unnecessary machine travel distance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Improves workload balance across machines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Ensures constraint-compliant scheduling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Scalable to larger PCB layouts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4A2143-14A9-44D0-C998-52B35D45C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375" y="3082291"/>
            <a:ext cx="4492265" cy="168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399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6B8D62-8907-82C8-4F00-B2C54D53CDCD}"/>
              </a:ext>
            </a:extLst>
          </p:cNvPr>
          <p:cNvSpPr txBox="1"/>
          <p:nvPr/>
        </p:nvSpPr>
        <p:spPr>
          <a:xfrm>
            <a:off x="5090160" y="2967335"/>
            <a:ext cx="5745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46420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315</Words>
  <Application>Microsoft Office PowerPoint</Application>
  <PresentationFormat>宽屏</PresentationFormat>
  <Paragraphs>96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Ananya</dc:creator>
  <cp:lastModifiedBy>YIKAI WU</cp:lastModifiedBy>
  <cp:revision>3</cp:revision>
  <dcterms:created xsi:type="dcterms:W3CDTF">2026-05-13T20:30:34Z</dcterms:created>
  <dcterms:modified xsi:type="dcterms:W3CDTF">2026-05-14T09:09:38Z</dcterms:modified>
</cp:coreProperties>
</file>